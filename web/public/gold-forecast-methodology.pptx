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GOLD FORECAST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BF7EE"/>
                </a:solidFill>
                <a:latin typeface="Helvetica"/>
              </a:rPr>
              <a:t>How the dashboard predicts gold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0C260"/>
                </a:solidFill>
                <a:latin typeface="Helvetica"/>
              </a:rPr>
              <a:t>From first principles — what gold is, what moves it, and how to use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9025"/>
          </a:solidFill>
          <a:ln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1A14"/>
                </a:solidFill>
                <a:latin typeface="Helvetica"/>
              </a:rPr>
              <a:t>5 LEVERS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5486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9025"/>
          </a:solidFill>
          <a:ln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1A14"/>
                </a:solidFill>
                <a:latin typeface="Helvetica"/>
              </a:rPr>
              <a:t>1 RECIPE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5486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9025"/>
          </a:solidFill>
          <a:ln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1A14"/>
                </a:solidFill>
                <a:latin typeface="Helvetica"/>
              </a:rPr>
              <a:t>4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5486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9025"/>
          </a:solidFill>
          <a:ln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1A14"/>
                </a:solidFill>
                <a:latin typeface="Helvetica"/>
              </a:rPr>
              <a:t>1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Helvetica"/>
              </a:rPr>
              <a:t>Why does gold have value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It doesn't pay interest. It doesn't earn profits. It just sits there shiny.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So why does any money flow into it? Three reasons, every single year: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3464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766560"/>
                <a:gridCol w="1097280"/>
              </a:tblGrid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BUYER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WHY THEY BUY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SHARE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Wedding &amp; jewellery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India + China + Middle East · cultural, dowries, festivals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~45%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Investors saving wealth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You, hedge funds, ETFs · protection from inflation + crisis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~30%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Central banks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China + India + Russia + Turkey · less USD dependency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~20%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Industry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Chips, dentistry · actually using the metal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~5%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4236"/>
                </a:solidFill>
                <a:latin typeface="Helvetica"/>
              </a:rPr>
              <a:t>Mines pull ~3,500 tonnes out of the ground per year. Recycling adds ~1,200 tonnes.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570F"/>
                </a:solidFill>
                <a:latin typeface="Helvetica"/>
              </a:rPr>
              <a:t>Demand &gt; Supply → price UP.  Supply &gt; Demand → price 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Helvetica"/>
              </a:rPr>
              <a:t>Why does the PRICE change month-to-month?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Wedding demand is steady. Mine output is steady. So why does gold swing 20-30% a year?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0570F"/>
                </a:solidFill>
                <a:latin typeface="Helvetica"/>
              </a:rPr>
              <a:t>Answer: big investors.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236"/>
                </a:solidFill>
                <a:latin typeface="Helvetica"/>
              </a:rPr>
              <a:t>When a hedge fund has $1 billion to allocate, they're asking every day:
  → US bonds (paying 4% safely)
  → Gold (paying 0% but protects in a crash)
  → Stocks (risky)
  → Cash (inflation eats it)
Their answer changes when 5 things change. Those 5 things are this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THE 5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BF7EE"/>
                </a:solidFill>
                <a:latin typeface="Helvetica"/>
              </a:rPr>
              <a:t>The whole show, in 5 things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94560" cy="384048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25400"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US 10y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11880"/>
            <a:ext cx="186537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236"/>
                </a:solidFill>
                <a:latin typeface="Helvetica"/>
              </a:rPr>
              <a:t>Bonds compete with gold for safe-haven 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11680"/>
            <a:ext cx="2194560" cy="384048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25400">
            <a:solidFill>
              <a:srgbClr val="4A9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90C5"/>
                </a:solidFill>
                <a:latin typeface="Helvetic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606040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US Debt/GDP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611880"/>
            <a:ext cx="186537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236"/>
                </a:solidFill>
                <a:latin typeface="Helvetica"/>
              </a:rPr>
              <a:t>Fiscal stress → gold as escape valve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194560" cy="384048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25400">
            <a:solidFill>
              <a:srgbClr val="C5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54F4F"/>
                </a:solidFill>
                <a:latin typeface="Helvetic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606040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US CPI Inflation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3611880"/>
            <a:ext cx="186537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236"/>
                </a:solidFill>
                <a:latin typeface="Helvetica"/>
              </a:rPr>
              <a:t>Gold preserves purchasing power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011680"/>
            <a:ext cx="2194560" cy="384048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25400">
            <a:solidFill>
              <a:srgbClr val="8C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4072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5D9A"/>
                </a:solidFill>
                <a:latin typeface="Helvetic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606040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Trade-weighted 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611880"/>
            <a:ext cx="186537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236"/>
                </a:solidFill>
                <a:latin typeface="Helvetica"/>
              </a:rPr>
              <a:t>Stronger $ → expensive gold abroad → less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2194560" cy="384048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25400">
            <a:solidFill>
              <a:srgbClr val="4F7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2148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606040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Fed Balance 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611880"/>
            <a:ext cx="186537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236"/>
                </a:solidFill>
                <a:latin typeface="Helvetica"/>
              </a:rPr>
              <a:t>QE prints money → dollar dilution → gold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C260"/>
                </a:solidFill>
                <a:latin typeface="Helvetica"/>
              </a:rPr>
              <a:t>Memorize these. They're 90% of gold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Helvetica"/>
              </a:rPr>
              <a:t>Lever 1: US 10-Year Treasury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9025"/>
                </a:solidFill>
                <a:latin typeface="Helvetica"/>
              </a:rPr>
              <a:t>Currently ~4.2%. Forecast 4.07%.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The interest rate the US government pays on 10-year bonds.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This is gold's #1 competitor. If bonds pay 5% safely, why hold gold paying 0%?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MOVES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Fed raises rates → 10y goes up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Recession fears → flight to bonds → 10y goes down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More government debt issuance → 10y goes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EFFECT ON 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0" y="48006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IF THIS HAPPENS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GOLD DOES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Rises (4% → 5%)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falls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Falls (4% → 3%)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Gold rises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6217920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C99025"/>
          </a:solidFill>
          <a:ln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F7EE"/>
                </a:solidFill>
                <a:latin typeface="Helvetica"/>
              </a:rPr>
              <a:t>STRONG · β = −0.094 · biggest lever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90C5"/>
                </a:solidFill>
                <a:latin typeface="Helvetic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Helvetica"/>
              </a:rPr>
              <a:t>Lever 2: US Debt-to-GDP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90C5"/>
                </a:solidFill>
                <a:latin typeface="Helvetica"/>
              </a:rPr>
              <a:t>Currently +0.5pp/yr. Forecast +1.3pp/yr.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How fast US government debt grows relative to the economy. US debt ≈ 120% of GDP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Massive debt → governments print money to pay it (inflation) or default. Gold hedges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MOVES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Big stimulus / war / COVID → debt grows fast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Tax hikes + spending cuts → debt grows slow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Strong economy → GDP grows → debt/GDP falls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EFFECT ON 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0" y="48006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IF THIS HAPPENS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GOLD DOES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Rapidly rising (+3pp/yr)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Gold rises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Stable (~0)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A4236"/>
                          </a:solidFill>
                          <a:latin typeface="Helvetica"/>
                        </a:rPr>
                        <a:t>Neutral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Falling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weak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6217920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4A90C5"/>
          </a:solidFill>
          <a:ln>
            <a:solidFill>
              <a:srgbClr val="4A9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F7EE"/>
                </a:solidFill>
                <a:latin typeface="Helvetica"/>
              </a:rPr>
              <a:t>WEAK-MODERATE · β = +0.018 · slow-burn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54F4F"/>
                </a:solidFill>
                <a:latin typeface="Helvetic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Helvetica"/>
              </a:rPr>
              <a:t>Lever 3: US CPI 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54F4F"/>
                </a:solidFill>
                <a:latin typeface="Helvetica"/>
              </a:rPr>
              <a:t>Currently 4.5%. Forecast 2.8%.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How fast prices for everyday stuff (food, gas, rent) rise in the 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Gold preserves purchasing power. The single cleanest 'inflation hedge' reason to own gold.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MOVES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Money printing → more dollars chasing same goods → inflation up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Supply chain breaks (war, energy crisis) → inflation up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High interest rates eventually → inflation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EFFECT ON 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0" y="48006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IF THIS HAPPENS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GOLD DOES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High (5%+)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Gold strongly up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Low (1-2%)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weak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weak — cash wins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6217920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C54F4F"/>
          </a:solidFill>
          <a:ln>
            <a:solidFill>
              <a:srgbClr val="C5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F7EE"/>
                </a:solidFill>
                <a:latin typeface="Helvetica"/>
              </a:rPr>
              <a:t>VERY STRONG · β = +4.11 · biggest coefficient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5D9A"/>
                </a:solidFill>
                <a:latin typeface="Helvetic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Helvetica"/>
              </a:rPr>
              <a:t>Lever 4: Trade-Weighted US Dollar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5D9A"/>
                </a:solidFill>
                <a:latin typeface="Helvetica"/>
              </a:rPr>
              <a:t>Currently ~102.5. Forecast 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Strength of the dollar vs major trading partners (EUR, JPY, GBP, CNY).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Gold is priced in dollars. Strong $ → gold expensive abroad → less demand → gold (in USD) falls.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MOVES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US rates higher than peers → capital flows in → DXY up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Crisis (people flee to USD) → DXY up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Fed printing → DXY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EFFECT ON 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0" y="48006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IF THIS HAPPENS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GOLD DOES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Strong dollar (rising)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falls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Weak dollar (falling)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Gold rises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6217920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8C5D9A"/>
          </a:solidFill>
          <a:ln>
            <a:solidFill>
              <a:srgbClr val="8C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F7EE"/>
                </a:solidFill>
                <a:latin typeface="Helvetica"/>
              </a:rPr>
              <a:t>STRONG · β = −0.87 · second biggest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7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Helvetica"/>
              </a:rPr>
              <a:t>Lever 5: Federal Reserve Balance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7F4E"/>
                </a:solidFill>
                <a:latin typeface="Helvetica"/>
              </a:rPr>
              <a:t>Currently ~$7T. Forecast $6.8T.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Bonds + mortgages the Fed itself owns. QE = Fed buys (prints money). QT = Fed sells.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When Fed prints money to buy bonds, more dollars in the system → dollar dilution → gold up. Usually.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WHAT MOVES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Fed launches QE (crisis response) → balance sheet expands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Fed runs QT (rolling off bonds) → balance sheet shrinks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80570F"/>
                </a:solidFill>
              </a:rPr>
              <a:t>• </a:t>
            </a:r>
            <a:r>
              <a:rPr sz="1100">
                <a:solidFill>
                  <a:srgbClr val="4A4236"/>
                </a:solidFill>
                <a:latin typeface="Helvetica"/>
              </a:rPr>
              <a:t>Long-term trend: from $0.9T (2007) → $9T peak (2022) → $7T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70F"/>
                </a:solidFill>
                <a:latin typeface="Helvetica"/>
              </a:rPr>
              <a:t>EFFECT ON 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0" y="48006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IF THIS HAPPENS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BF7EE"/>
                          </a:solidFill>
                          <a:latin typeface="Helvetica"/>
                        </a:rPr>
                        <a:t>GOLD DOES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Expanding (QE) — textbook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Gold up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Shrinking (QT) — textbook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Gold weak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BUT 2022-2025: QT + gold rallied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Sign flipped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6217920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4F7F4E"/>
          </a:solidFill>
          <a:ln>
            <a:solidFill>
              <a:srgbClr val="4F7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BF7EE"/>
                </a:solidFill>
                <a:latin typeface="Helvetica"/>
              </a:rPr>
              <a:t>WEAK · β = −0.23 (negative — see note)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8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08 · THE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BF7EE"/>
                </a:solidFill>
                <a:latin typeface="Helvetica"/>
              </a:rPr>
              <a:t>The model, in one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0972800" cy="128016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25400">
            <a:solidFill>
              <a:srgbClr val="C99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236"/>
                </a:solidFill>
                <a:latin typeface="Helvetica"/>
              </a:rPr>
              <a:t>Annual gold return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1A14"/>
                </a:solidFill>
                <a:latin typeface="Helvetica"/>
              </a:rPr>
              <a:t>−1.6%  +  (−0.094 × Δ rates)  +  (0.018 × Δ debt)  +  (4.11 × inflation)  +  (−0.87 × Δ $)  +  (−0.23 × Δ Fed)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In plain English: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Start with a baseline of −1.6% (the intercept).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Every 1 percentage-point increase in rates → subtract 0.094.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Every 1% inflation → ADD 4.11 (the biggest driver).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Every 1% dollar weakness → ADD 0.87.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Coefficients came from fitting 19 years of history (2007-2025).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FBF7EE"/>
                </a:solidFill>
                <a:latin typeface="Helvetica"/>
              </a:rPr>
              <a:t>R² = 0.61 → the model explains 61% of historical variance.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Worked example · default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Plug the dashboard's default Qaurum-style macro path into our recipe: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3108960"/>
                <a:gridCol w="182880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LEVER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INPUT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MATH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CONTRIBUTION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 10y rate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4.07% (from 4.21%)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−0.094 × (−0.028)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+0.003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Debt/GDP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+1.3 pp/yr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0.018 × 1.3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+0.023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2.8% per year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4.11 × 0.028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+0.115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100 (from 102.5)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−0.87 × −0.005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+0.004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Fed BS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$6800B (from $7000B)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−0.23 × −0.006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4F7F4E"/>
                          </a:solidFill>
                          <a:latin typeface="Helvetica"/>
                        </a:rPr>
                        <a:t>+0.001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Subtotal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80570F"/>
                          </a:solidFill>
                          <a:latin typeface="Helvetica"/>
                        </a:rPr>
                        <a:t>+0.146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+ Intercept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C54F4F"/>
                          </a:solidFill>
                          <a:latin typeface="Helvetica"/>
                        </a:rPr>
                        <a:t>−0.016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Predicted log-return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0.146 − 0.016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1" sz="1100">
                          <a:solidFill>
                            <a:srgbClr val="80570F"/>
                          </a:solidFill>
                          <a:latin typeface="Helvetica"/>
                        </a:rPr>
                        <a:t>+0.130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Predicted annual return = exp(0.130) − 1 ≈ +13.9%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4236"/>
                </a:solidFill>
                <a:latin typeface="Helvetica"/>
              </a:rPr>
              <a:t>Driven almost entirely by inflation (+0.115 of the +0.146 sum). The chart will show inflation as the dominant contribution chip.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Scenario A: Soft 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Mainstream view — Fed cuts, inflation cools, dollar weakens modestly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0570F"/>
                </a:solidFill>
                <a:latin typeface="Helvetica"/>
              </a:rPr>
              <a:t>SET THE INPUTS TO: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4688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LEVER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VALUE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 10y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3.50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rates fall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Debt/GDP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1.0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modest growth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2.0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back to target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95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dollar weakens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Fed BS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7000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flat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2651760"/>
            <a:ext cx="4846320" cy="2377440"/>
          </a:xfrm>
          <a:prstGeom prst="roundRect">
            <a:avLst>
              <a:gd name="adj" fmla="val 5000"/>
            </a:avLst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F7EE"/>
                </a:solidFill>
                <a:latin typeface="Helvetica"/>
              </a:rPr>
              <a:t>EXPECTED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BF7EE"/>
                </a:solidFill>
                <a:latin typeface="Helvetica"/>
              </a:rPr>
              <a:t>+8% to +10%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Bullish but not extreme. The default consensus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Scenario B: Stagflation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1970s repeat — inflation sticks high, deficit explodes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0570F"/>
                </a:solidFill>
                <a:latin typeface="Helvetica"/>
              </a:rPr>
              <a:t>SET THE INPUTS TO: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4688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LEVER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VALUE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 10y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5.50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rates stay high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Debt/GDP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2.5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deficit explodes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5.0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sticky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flat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Fed BS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7500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flat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2651760"/>
            <a:ext cx="4846320" cy="2377440"/>
          </a:xfrm>
          <a:prstGeom prst="roundRect">
            <a:avLst>
              <a:gd name="adj" fmla="val 5000"/>
            </a:avLst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F7EE"/>
                </a:solidFill>
                <a:latin typeface="Helvetica"/>
              </a:rPr>
              <a:t>EXPECTED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BF7EE"/>
                </a:solidFill>
                <a:latin typeface="Helvetica"/>
              </a:rPr>
              <a:t>+18% to +25%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STRONG bull case. Historical 1970s: gold ran $35 → $850.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54F4F"/>
                </a:solidFill>
                <a:latin typeface="Helvetic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Scenario C: Goldilocks bear case for gold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Rates rise, inflation crushed, USD strong, fiscal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0570F"/>
                </a:solidFill>
                <a:latin typeface="Helvetica"/>
              </a:rPr>
              <a:t>SET THE INPUTS TO: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4688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LEVER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VALUE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 10y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6.00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rates rise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Debt/GDP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0.0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fiscal discipline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1.5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low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115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 strong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Fed BS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5500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heavy QT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2651760"/>
            <a:ext cx="4846320" cy="2377440"/>
          </a:xfrm>
          <a:prstGeom prst="roundRect">
            <a:avLst>
              <a:gd name="adj" fmla="val 5000"/>
            </a:avLst>
          </a:prstGeom>
          <a:solidFill>
            <a:srgbClr val="C5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F7EE"/>
                </a:solidFill>
                <a:latin typeface="Helvetica"/>
              </a:rPr>
              <a:t>EXPECTED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BF7EE"/>
                </a:solidFill>
                <a:latin typeface="Helvetica"/>
              </a:rPr>
              <a:t>−5% to 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Every lever against gold. Bearish.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Scenario D: Crisis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236"/>
                </a:solidFill>
                <a:latin typeface="Helvetica"/>
              </a:rPr>
              <a:t>2008/2020 repeat — inflation spike, Fed prints massive QE, rates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0570F"/>
                </a:solidFill>
                <a:latin typeface="Helvetica"/>
              </a:rPr>
              <a:t>SET THE INPUTS TO: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4688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LEVER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VALUE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 10y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2.50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rates collapse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Debt/GDP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5.0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fiscal panic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6.0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inflation spike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USD weakens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Fed BS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10000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massive QE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2651760"/>
            <a:ext cx="4846320" cy="2377440"/>
          </a:xfrm>
          <a:prstGeom prst="roundRect">
            <a:avLst>
              <a:gd name="adj" fmla="val 5000"/>
            </a:avLst>
          </a:prstGeom>
          <a:solidFill>
            <a:srgbClr val="4F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F7EE"/>
                </a:solidFill>
                <a:latin typeface="Helvetica"/>
              </a:rPr>
              <a:t>EXPECTED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BF7EE"/>
                </a:solidFill>
                <a:latin typeface="Helvetica"/>
              </a:rPr>
              <a:t>+25% to +35%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4236"/>
                </a:solidFill>
                <a:latin typeface="Helvetica"/>
              </a:rPr>
              <a:t>Extreme bull case. Crisis = gold's home turf.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Helvetica"/>
              </a:rPr>
              <a:t>How to read what you see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50292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WHAT YOU SEE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BF7EE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 marL="91440" marR="91440" marT="54864" marB="54864">
                    <a:solidFill>
                      <a:srgbClr val="80570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R² = 0.61 badge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Model explains 61% of historical gold-return variance. Anything above 0.5 is useful.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Big '+13.9%' number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Predicted gold return next year under your scenario inputs.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Contribution chips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How much each lever contributes. Biggest chip = your dominant driver.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±1σ error bars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Confidence range. ~2/3 of historical outcomes fell within these bars.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β next to each input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Sensitivity. Big β = lever moves the forecast a lot.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Gold-highlighted cell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You customised this from the default.</a:t>
                      </a:r>
                    </a:p>
                  </a:txBody>
                  <a:tcPr marL="91440" marR="91440" marT="36576" marB="36576">
                    <a:solidFill>
                      <a:srgbClr val="FBF7EE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'Reset N' button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F1A14"/>
                          </a:solidFill>
                          <a:latin typeface="Helvetica"/>
                        </a:rPr>
                        <a:t>Wipe customisations, return to default.</a:t>
                      </a:r>
                    </a:p>
                  </a:txBody>
                  <a:tcPr marL="91440" marR="91440" marT="36576" marB="36576">
                    <a:solidFill>
                      <a:srgbClr val="FFF8E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BF7EE"/>
                </a:solidFill>
                <a:latin typeface="Helvetica"/>
              </a:rPr>
              <a:t>How a pro would actually use this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5798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579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Spend a week with news + research. Form a macro view.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0662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PLUG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Enter your view into the inputs panel.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5526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552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READ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0040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What return does the historical relationship imply?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4904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SANITY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74904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Are the contributions reasonable? Does the dominant lever match your gut?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35254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52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STRESS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9768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What if you're wrong about inflation? Drop it 100bps. Does the call still hold?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90118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011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84632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Bloomberg analyst consensus, GS / JPM views. Where do you disagree?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449824"/>
            <a:ext cx="365760" cy="365760"/>
          </a:xfrm>
          <a:prstGeom prst="ellipse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498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1A14"/>
                </a:solidFill>
                <a:latin typeface="Helvetic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9496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C260"/>
                </a:solidFill>
                <a:latin typeface="Helvetica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394960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BF7EE"/>
                </a:solidFill>
                <a:latin typeface="Helvetica"/>
              </a:rPr>
              <a:t>Use this as ONE input among many — not gospel. Size accordingly.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9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9025"/>
                </a:solidFill>
                <a:latin typeface="Helvetic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A14"/>
                </a:solidFill>
                <a:latin typeface="Helvetica"/>
              </a:rPr>
              <a:t>The mental model — keep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E9F3E7"/>
          </a:solidFill>
          <a:ln w="25400">
            <a:solidFill>
              <a:srgbClr val="4F7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F7F4E"/>
                </a:solidFill>
                <a:latin typeface="Helvetica"/>
              </a:rPr>
              <a:t>Gold goes UP when: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Inflation is high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Dollar is weak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Rates are low (especially real rates)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Government is in fiscal trouble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Crisis is brewing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 w="25400">
            <a:solidFill>
              <a:srgbClr val="C5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54F4F"/>
                </a:solidFill>
                <a:latin typeface="Helvetica"/>
              </a:rPr>
              <a:t>Gold goes DOWN when: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Inflation is killed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Dollar is strong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Rates are high (especially real rates)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Fiscal house in order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80570F"/>
                </a:solidFill>
              </a:rPr>
              <a:t>• </a:t>
            </a:r>
            <a:r>
              <a:rPr sz="1400">
                <a:solidFill>
                  <a:srgbClr val="4A4236"/>
                </a:solidFill>
                <a:latin typeface="Helvetica"/>
              </a:rPr>
              <a:t>Everything is calm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A4236"/>
                </a:solidFill>
                <a:latin typeface="Helvetica"/>
              </a:rPr>
              <a:t>You're now equipped to use the Forecast tab as a real gold analyst. Have fun.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4A4236"/>
                </a:solidFill>
                <a:latin typeface="Helvetica"/>
              </a:rPr>
              <a:t>Gold Forecast Methodology  ·  goldorg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4A4236"/>
                </a:solidFill>
                <a:latin typeface="Helvetica"/>
              </a:rPr>
              <a:t>16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